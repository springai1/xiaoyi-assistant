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</p:spPr>
      </p:sp>
      <p:sp>
        <p:nvSpPr>
          <p:cNvPr name="AutoShape 3" id="3"/>
          <p:cNvSpPr/>
          <p:nvPr/>
        </p:nvSpPr>
        <p:spPr>
          <a:xfrm>
            <a:off x="0" y="0"/>
            <a:ext cx="5080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4" id="4"/>
          <p:cNvSpPr txBox="true"/>
          <p:nvPr/>
        </p:nvSpPr>
        <p:spPr>
          <a:xfrm>
            <a:off x="889000" y="1778000"/>
            <a:ext cx="762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4800" b="true">
                <a:solidFill>
                  <a:srgbClr val="008080"/>
                </a:solidFill>
              </a:rPr>
              <a:t>AI Enterprise Presentation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889000" y="3556000"/>
            <a:ext cx="762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400">
                <a:solidFill>
                  <a:srgbClr val="505050"/>
                </a:solidFill>
              </a:rPr>
              <a:t>专业演示文稿 | 科技风格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89000" y="5080000"/>
            <a:ext cx="7620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787878"/>
                </a:solidFill>
              </a:rPr>
              <a:t>小易助手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AutoShape 3" id="3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4" id="4"/>
          <p:cNvSpPr txBox="true"/>
          <p:nvPr/>
        </p:nvSpPr>
        <p:spPr>
          <a:xfrm>
            <a:off x="635000" y="3810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3600" b="true">
                <a:solidFill>
                  <a:srgbClr val="008080"/>
                </a:solidFill>
              </a:rPr>
              <a:t>目录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016000" y="1651000"/>
            <a:ext cx="355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800" b="true">
                <a:solidFill>
                  <a:srgbClr val="008080"/>
                </a:solidFill>
              </a:rPr>
              <a:t>1. 📋 公司概览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016000" y="2286000"/>
            <a:ext cx="355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800" b="true">
                <a:solidFill>
                  <a:srgbClr val="008080"/>
                </a:solidFill>
              </a:rPr>
              <a:t>2. 📊 数据分析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1016000" y="2921000"/>
            <a:ext cx="355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800" b="true">
                <a:solidFill>
                  <a:srgbClr val="008080"/>
                </a:solidFill>
              </a:rPr>
              <a:t>3. 🎯 核心业务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1016000" y="3556000"/>
            <a:ext cx="355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800" b="true">
                <a:solidFill>
                  <a:srgbClr val="008080"/>
                </a:solidFill>
              </a:rPr>
              <a:t>4. 💡 竞争优势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5080000" y="1651000"/>
            <a:ext cx="355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800" b="true">
                <a:solidFill>
                  <a:srgbClr val="008080"/>
                </a:solidFill>
              </a:rPr>
              <a:t>5. 🚀 发展战略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5080000" y="2286000"/>
            <a:ext cx="355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800" b="true">
                <a:solidFill>
                  <a:srgbClr val="008080"/>
                </a:solidFill>
              </a:rPr>
              <a:t>6. ⚡ 流程演示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5080000" y="2921000"/>
            <a:ext cx="355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800" b="true">
                <a:solidFill>
                  <a:srgbClr val="008080"/>
                </a:solidFill>
              </a:rPr>
              <a:t>7. ✨ 未来展望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AutoShape 3" id="3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4" id="4"/>
          <p:cNvSpPr txBox="true"/>
          <p:nvPr/>
        </p:nvSpPr>
        <p:spPr>
          <a:xfrm>
            <a:off x="635000" y="3810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3600" b="true">
                <a:solidFill>
                  <a:srgbClr val="008080"/>
                </a:solidFill>
              </a:rPr>
              <a:t>公司概览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1524000"/>
            <a:ext cx="3810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000" b="true">
                <a:solidFill>
                  <a:srgbClr val="008080"/>
                </a:solidFill>
              </a:rPr>
              <a:t>📌 企业使命</a:t>
            </a:r>
          </a:p>
          <a:p>
            <a:pPr indent="127000"/>
            <a:r>
              <a:rPr lang="en-US" sz="1400"/>
              <a:t>致力于成为行业领先的解决方案提供商，为客户创造价值，为社会贡献力量。</a:t>
            </a:r>
          </a:p>
          <a:p>
            <a:r>
              <a:rPr lang="en-US"/>
              <a:t/>
            </a:r>
          </a:p>
          <a:p>
            <a:r>
              <a:rPr lang="en-US" sz="2000" b="true">
                <a:solidFill>
                  <a:srgbClr val="008080"/>
                </a:solidFill>
              </a:rPr>
              <a:t>🎯 企业愿景</a:t>
            </a:r>
          </a:p>
          <a:p>
            <a:pPr indent="127000"/>
            <a:r>
              <a:rPr lang="en-US" sz="1400"/>
              <a:t>引领行业创新，成为受尊敬的行业领导者，持续推动技术进步。</a:t>
            </a:r>
          </a:p>
          <a:p>
            <a:r>
              <a:rPr lang="en-US"/>
              <a:t/>
            </a:r>
          </a:p>
          <a:p>
            <a:r>
              <a:rPr lang="en-US" sz="2000" b="true">
                <a:solidFill>
                  <a:srgbClr val="008080"/>
                </a:solidFill>
              </a:rPr>
              <a:t>💡 核心价值观</a:t>
            </a:r>
          </a:p>
          <a:p>
            <a:pPr indent="127000"/>
            <a:r>
              <a:rPr lang="en-US" sz="1400"/>
              <a:t>创新 · 协作 · 诚信 · 卓越</a:t>
            </a:r>
          </a:p>
        </p:txBody>
      </p:sp>
      <p:sp>
        <p:nvSpPr>
          <p:cNvPr name="AutoShape 6" id="6"/>
          <p:cNvSpPr/>
          <p:nvPr/>
        </p:nvSpPr>
        <p:spPr>
          <a:xfrm>
            <a:off x="4699000" y="1651000"/>
            <a:ext cx="1905000" cy="1143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7" id="7"/>
          <p:cNvSpPr txBox="true"/>
          <p:nvPr/>
        </p:nvSpPr>
        <p:spPr>
          <a:xfrm>
            <a:off x="4826000" y="1841500"/>
            <a:ext cx="1651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400" b="true">
                <a:solidFill>
                  <a:srgbClr val="FFFFFF"/>
                </a:solidFill>
              </a:rPr>
              <a:t>2018</a:t>
            </a:r>
          </a:p>
          <a:p>
            <a:pPr algn="ctr"/>
            <a:r>
              <a:rPr lang="en-US" sz="1200">
                <a:solidFill>
                  <a:srgbClr val="E6E6E6"/>
                </a:solidFill>
              </a:rPr>
              <a:t>成立年份</a:t>
            </a:r>
          </a:p>
        </p:txBody>
      </p:sp>
      <p:sp>
        <p:nvSpPr>
          <p:cNvPr name="AutoShape 8" id="8"/>
          <p:cNvSpPr/>
          <p:nvPr/>
        </p:nvSpPr>
        <p:spPr>
          <a:xfrm>
            <a:off x="6858000" y="1651000"/>
            <a:ext cx="1905000" cy="1143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9" id="9"/>
          <p:cNvSpPr txBox="true"/>
          <p:nvPr/>
        </p:nvSpPr>
        <p:spPr>
          <a:xfrm>
            <a:off x="6985000" y="1841500"/>
            <a:ext cx="1651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400" b="true">
                <a:solidFill>
                  <a:srgbClr val="FFFFFF"/>
                </a:solidFill>
              </a:rPr>
              <a:t>500+</a:t>
            </a:r>
          </a:p>
          <a:p>
            <a:pPr algn="ctr"/>
            <a:r>
              <a:rPr lang="en-US" sz="1200">
                <a:solidFill>
                  <a:srgbClr val="E6E6E6"/>
                </a:solidFill>
              </a:rPr>
              <a:t>员工规模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699000" y="3048000"/>
            <a:ext cx="1905000" cy="1143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11" id="11"/>
          <p:cNvSpPr txBox="true"/>
          <p:nvPr/>
        </p:nvSpPr>
        <p:spPr>
          <a:xfrm>
            <a:off x="4826000" y="3238500"/>
            <a:ext cx="1651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400" b="true">
                <a:solidFill>
                  <a:srgbClr val="FFFFFF"/>
                </a:solidFill>
              </a:rPr>
              <a:t>30+</a:t>
            </a:r>
          </a:p>
          <a:p>
            <a:pPr algn="ctr"/>
            <a:r>
              <a:rPr lang="en-US" sz="1200">
                <a:solidFill>
                  <a:srgbClr val="E6E6E6"/>
                </a:solidFill>
              </a:rPr>
              <a:t>覆盖城市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858000" y="3048000"/>
            <a:ext cx="1905000" cy="1143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13" id="13"/>
          <p:cNvSpPr txBox="true"/>
          <p:nvPr/>
        </p:nvSpPr>
        <p:spPr>
          <a:xfrm>
            <a:off x="6985000" y="3238500"/>
            <a:ext cx="1651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400" b="true">
                <a:solidFill>
                  <a:srgbClr val="FFFFFF"/>
                </a:solidFill>
              </a:rPr>
              <a:t>ISO</a:t>
            </a:r>
          </a:p>
          <a:p>
            <a:pPr algn="ctr"/>
            <a:r>
              <a:rPr lang="en-US" sz="1200">
                <a:solidFill>
                  <a:srgbClr val="E6E6E6"/>
                </a:solidFill>
              </a:rPr>
              <a:t>认证资质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AutoShape 3" id="3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4" id="4"/>
          <p:cNvSpPr txBox="true"/>
          <p:nvPr/>
        </p:nvSpPr>
        <p:spPr>
          <a:xfrm>
            <a:off x="635000" y="3810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3600" b="true">
                <a:solidFill>
                  <a:srgbClr val="008080"/>
                </a:solidFill>
              </a:rPr>
              <a:t>数据概览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13970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600" b="true">
                <a:solidFill>
                  <a:srgbClr val="008080"/>
                </a:solidFill>
              </a:rPr>
              <a:t>📊 业务增长趋势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016000" y="1905000"/>
            <a:ext cx="762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 b="true"/>
              <a:t>2021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1905000" y="1905000"/>
            <a:ext cx="635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>
                <a:solidFill>
                  <a:srgbClr val="008080"/>
                </a:solidFill>
              </a:rPr>
              <a:t>50M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667000" y="1905000"/>
            <a:ext cx="5080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400">
                <a:solidFill>
                  <a:srgbClr val="008080"/>
                </a:solidFill>
              </a:rPr>
              <a:t>███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1016000" y="2540000"/>
            <a:ext cx="762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 b="true"/>
              <a:t>2022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1905000" y="2540000"/>
            <a:ext cx="635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>
                <a:solidFill>
                  <a:srgbClr val="008080"/>
                </a:solidFill>
              </a:rPr>
              <a:t>80M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667000" y="2540000"/>
            <a:ext cx="5080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400">
                <a:solidFill>
                  <a:srgbClr val="008080"/>
                </a:solidFill>
              </a:rPr>
              <a:t>█████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1016000" y="3175000"/>
            <a:ext cx="762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 b="true"/>
              <a:t>2023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1905000" y="3175000"/>
            <a:ext cx="635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>
                <a:solidFill>
                  <a:srgbClr val="008080"/>
                </a:solidFill>
              </a:rPr>
              <a:t>120M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667000" y="3175000"/>
            <a:ext cx="5080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400">
                <a:solidFill>
                  <a:srgbClr val="008080"/>
                </a:solidFill>
              </a:rPr>
              <a:t>████████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1016000" y="3810000"/>
            <a:ext cx="762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 b="true"/>
              <a:t>2024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1905000" y="3810000"/>
            <a:ext cx="635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>
                <a:solidFill>
                  <a:srgbClr val="008080"/>
                </a:solidFill>
              </a:rPr>
              <a:t>180M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667000" y="3810000"/>
            <a:ext cx="5080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400">
                <a:solidFill>
                  <a:srgbClr val="008080"/>
                </a:solidFill>
              </a:rPr>
              <a:t>███████████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1016000" y="4445000"/>
            <a:ext cx="762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 b="true"/>
              <a:t>2025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1905000" y="4445000"/>
            <a:ext cx="635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400">
                <a:solidFill>
                  <a:srgbClr val="008080"/>
                </a:solidFill>
              </a:rPr>
              <a:t>240M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2667000" y="4445000"/>
            <a:ext cx="5080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400">
                <a:solidFill>
                  <a:srgbClr val="008080"/>
                </a:solidFill>
              </a:rPr>
              <a:t>██████████████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5334000" y="2286000"/>
            <a:ext cx="3175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>
              <a:spcAft>
                <a:spcPct val="20000"/>
              </a:spcAft>
            </a:pPr>
            <a:r>
              <a:rPr lang="en-US" sz="1600" b="true"/>
              <a:t>收入构成</a:t>
            </a:r>
          </a:p>
          <a:p>
            <a:pPr>
              <a:spcAft>
                <a:spcPct val="10000"/>
              </a:spcAft>
            </a:pPr>
            <a:r>
              <a:rPr lang="en-US" sz="1400"/>
              <a:t>🟢 研发收入  40%</a:t>
            </a:r>
          </a:p>
          <a:p>
            <a:pPr>
              <a:spcAft>
                <a:spcPct val="10000"/>
              </a:spcAft>
            </a:pPr>
            <a:r>
              <a:rPr lang="en-US" sz="1400"/>
              <a:t>🔵 服务收入  35%</a:t>
            </a:r>
          </a:p>
          <a:p>
            <a:pPr>
              <a:spcAft>
                <a:spcPct val="10000"/>
              </a:spcAft>
            </a:pPr>
            <a:r>
              <a:rPr lang="en-US" sz="1400"/>
              <a:t>🟡 产品销售  15%</a:t>
            </a:r>
          </a:p>
          <a:p>
            <a:pPr>
              <a:spcAft>
                <a:spcPct val="10000"/>
              </a:spcAft>
            </a:pPr>
            <a:r>
              <a:rPr lang="en-US" sz="1400"/>
              <a:t>🟠 其他收入  10%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AutoShape 3" id="3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4" id="4"/>
          <p:cNvSpPr txBox="true"/>
          <p:nvPr/>
        </p:nvSpPr>
        <p:spPr>
          <a:xfrm>
            <a:off x="635000" y="3810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3600" b="true">
                <a:solidFill>
                  <a:srgbClr val="008080"/>
                </a:solidFill>
              </a:rPr>
              <a:t>核心业务</a:t>
            </a:r>
          </a:p>
        </p:txBody>
      </p:sp>
      <p:sp>
        <p:nvSpPr>
          <p:cNvPr name="AutoShape 5" id="5"/>
          <p:cNvSpPr/>
          <p:nvPr/>
        </p:nvSpPr>
        <p:spPr>
          <a:xfrm>
            <a:off x="635000" y="1651000"/>
            <a:ext cx="3810000" cy="2032000"/>
          </a:xfrm>
          <a:prstGeom prst="rect">
            <a:avLst/>
          </a:prstGeom>
          <a:solidFill>
            <a:srgbClr val="008080">
              <a:alpha val="11765"/>
            </a:srgbClr>
          </a:solidFill>
        </p:spPr>
      </p:sp>
      <p:sp>
        <p:nvSpPr>
          <p:cNvPr name="TextBox 6" id="6"/>
          <p:cNvSpPr txBox="true"/>
          <p:nvPr/>
        </p:nvSpPr>
        <p:spPr>
          <a:xfrm>
            <a:off x="825500" y="1841500"/>
            <a:ext cx="3429000" cy="165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>
              <a:spcAft>
                <a:spcPct val="10000"/>
              </a:spcAft>
            </a:pPr>
            <a:r>
              <a:rPr lang="en-US" sz="2000" b="true">
                <a:solidFill>
                  <a:srgbClr val="008080"/>
                </a:solidFill>
              </a:rPr>
              <a:t>🤖 AI研发服务</a:t>
            </a:r>
          </a:p>
          <a:p>
            <a:pPr indent="127000"/>
            <a:r>
              <a:rPr lang="en-US" sz="1400"/>
              <a:t>自然语言处理、计算机视觉、机器学习、深度学习</a:t>
            </a:r>
          </a:p>
        </p:txBody>
      </p:sp>
      <p:sp>
        <p:nvSpPr>
          <p:cNvPr name="AutoShape 7" id="7"/>
          <p:cNvSpPr/>
          <p:nvPr/>
        </p:nvSpPr>
        <p:spPr>
          <a:xfrm>
            <a:off x="4699000" y="1651000"/>
            <a:ext cx="3810000" cy="2032000"/>
          </a:xfrm>
          <a:prstGeom prst="rect">
            <a:avLst/>
          </a:prstGeom>
          <a:solidFill>
            <a:srgbClr val="008080">
              <a:alpha val="11765"/>
            </a:srgbClr>
          </a:solidFill>
        </p:spPr>
      </p:sp>
      <p:sp>
        <p:nvSpPr>
          <p:cNvPr name="TextBox 8" id="8"/>
          <p:cNvSpPr txBox="true"/>
          <p:nvPr/>
        </p:nvSpPr>
        <p:spPr>
          <a:xfrm>
            <a:off x="4889500" y="1841500"/>
            <a:ext cx="3429000" cy="165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>
              <a:spcAft>
                <a:spcPct val="10000"/>
              </a:spcAft>
            </a:pPr>
            <a:r>
              <a:rPr lang="en-US" sz="2000" b="true">
                <a:solidFill>
                  <a:srgbClr val="008080"/>
                </a:solidFill>
              </a:rPr>
              <a:t>☁️ 云计算解决方案</a:t>
            </a:r>
          </a:p>
          <a:p>
            <a:pPr indent="127000"/>
            <a:r>
              <a:rPr lang="en-US" sz="1400"/>
              <a:t>私有云部署、混合云架构、云安全、容器化</a:t>
            </a:r>
          </a:p>
        </p:txBody>
      </p:sp>
      <p:sp>
        <p:nvSpPr>
          <p:cNvPr name="AutoShape 9" id="9"/>
          <p:cNvSpPr/>
          <p:nvPr/>
        </p:nvSpPr>
        <p:spPr>
          <a:xfrm>
            <a:off x="635000" y="3937000"/>
            <a:ext cx="3810000" cy="2032000"/>
          </a:xfrm>
          <a:prstGeom prst="rect">
            <a:avLst/>
          </a:prstGeom>
          <a:solidFill>
            <a:srgbClr val="008080">
              <a:alpha val="11765"/>
            </a:srgbClr>
          </a:solidFill>
        </p:spPr>
      </p:sp>
      <p:sp>
        <p:nvSpPr>
          <p:cNvPr name="TextBox 10" id="10"/>
          <p:cNvSpPr txBox="true"/>
          <p:nvPr/>
        </p:nvSpPr>
        <p:spPr>
          <a:xfrm>
            <a:off x="825500" y="4127500"/>
            <a:ext cx="3429000" cy="165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>
              <a:spcAft>
                <a:spcPct val="10000"/>
              </a:spcAft>
            </a:pPr>
            <a:r>
              <a:rPr lang="en-US" sz="2000" b="true">
                <a:solidFill>
                  <a:srgbClr val="008080"/>
                </a:solidFill>
              </a:rPr>
              <a:t>📊 数据分析服务</a:t>
            </a:r>
          </a:p>
          <a:p>
            <a:pPr indent="127000"/>
            <a:r>
              <a:rPr lang="en-US" sz="1400"/>
              <a:t>大数据分析、商业智能、数据可视化、数据挖掘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699000" y="3937000"/>
            <a:ext cx="3810000" cy="2032000"/>
          </a:xfrm>
          <a:prstGeom prst="rect">
            <a:avLst/>
          </a:prstGeom>
          <a:solidFill>
            <a:srgbClr val="008080">
              <a:alpha val="11765"/>
            </a:srgbClr>
          </a:solidFill>
        </p:spPr>
      </p:sp>
      <p:sp>
        <p:nvSpPr>
          <p:cNvPr name="TextBox 12" id="12"/>
          <p:cNvSpPr txBox="true"/>
          <p:nvPr/>
        </p:nvSpPr>
        <p:spPr>
          <a:xfrm>
            <a:off x="4889500" y="4127500"/>
            <a:ext cx="3429000" cy="165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>
              <a:spcAft>
                <a:spcPct val="10000"/>
              </a:spcAft>
            </a:pPr>
            <a:r>
              <a:rPr lang="en-US" sz="2000" b="true">
                <a:solidFill>
                  <a:srgbClr val="008080"/>
                </a:solidFill>
              </a:rPr>
              <a:t>💼 技术咨询服务</a:t>
            </a:r>
          </a:p>
          <a:p>
            <a:pPr indent="127000"/>
            <a:r>
              <a:rPr lang="en-US" sz="1400"/>
              <a:t>架构设计、技术评估、实施指导、培训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AutoShape 3" id="3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4" id="4"/>
          <p:cNvSpPr txBox="true"/>
          <p:nvPr/>
        </p:nvSpPr>
        <p:spPr>
          <a:xfrm>
            <a:off x="635000" y="3810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3600" b="true">
                <a:solidFill>
                  <a:srgbClr val="008080"/>
                </a:solidFill>
              </a:rPr>
              <a:t>竞争优势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1651000"/>
            <a:ext cx="635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3200"/>
              <a:t>🎯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524000" y="1651000"/>
            <a:ext cx="6985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000" b="true">
                <a:solidFill>
                  <a:srgbClr val="008080"/>
                </a:solidFill>
              </a:rPr>
              <a:t>技术领先</a:t>
            </a:r>
          </a:p>
          <a:p>
            <a:pPr indent="63500"/>
            <a:r>
              <a:rPr lang="en-US" sz="1400"/>
              <a:t>拥有核心技术专利50+项，技术团队占比70%以上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35000" y="2794000"/>
            <a:ext cx="635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3200"/>
              <a:t>🚀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1524000" y="2794000"/>
            <a:ext cx="6985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000" b="true">
                <a:solidFill>
                  <a:srgbClr val="008080"/>
                </a:solidFill>
              </a:rPr>
              <a:t>快速响应</a:t>
            </a:r>
          </a:p>
          <a:p>
            <a:pPr indent="63500"/>
            <a:r>
              <a:rPr lang="en-US" sz="1400"/>
              <a:t>7x24小时技术支持，平均响应时间小于1小时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635000" y="3937000"/>
            <a:ext cx="635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3200"/>
              <a:t>💼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1524000" y="3937000"/>
            <a:ext cx="6985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000" b="true">
                <a:solidFill>
                  <a:srgbClr val="008080"/>
                </a:solidFill>
              </a:rPr>
              <a:t>行业经验</a:t>
            </a:r>
          </a:p>
          <a:p>
            <a:pPr indent="63500"/>
            <a:r>
              <a:rPr lang="en-US" sz="1400"/>
              <a:t>服务超过1000家企业客户，覆盖多个行业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35000" y="5080000"/>
            <a:ext cx="635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3200"/>
              <a:t>📈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1524000" y="5080000"/>
            <a:ext cx="6985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000" b="true">
                <a:solidFill>
                  <a:srgbClr val="008080"/>
                </a:solidFill>
              </a:rPr>
              <a:t>持续创新</a:t>
            </a:r>
          </a:p>
          <a:p>
            <a:pPr indent="63500"/>
            <a:r>
              <a:rPr lang="en-US" sz="1400"/>
              <a:t>每年研发投入占营收15%以上，保持技术领先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AutoShape 3" id="3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4" id="4"/>
          <p:cNvSpPr txBox="true"/>
          <p:nvPr/>
        </p:nvSpPr>
        <p:spPr>
          <a:xfrm>
            <a:off x="635000" y="3810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3600" b="true">
                <a:solidFill>
                  <a:srgbClr val="008080"/>
                </a:solidFill>
              </a:rPr>
              <a:t>发展战略</a:t>
            </a:r>
          </a:p>
        </p:txBody>
      </p:sp>
      <p:sp>
        <p:nvSpPr>
          <p:cNvPr name="AutoShape 5" id="5"/>
          <p:cNvSpPr/>
          <p:nvPr/>
        </p:nvSpPr>
        <p:spPr>
          <a:xfrm>
            <a:off x="1016000" y="1651000"/>
            <a:ext cx="2286000" cy="4445000"/>
          </a:xfrm>
          <a:prstGeom prst="rect">
            <a:avLst/>
          </a:prstGeom>
          <a:solidFill>
            <a:srgbClr val="008080">
              <a:alpha val="7843"/>
            </a:srgbClr>
          </a:solidFill>
        </p:spPr>
      </p:sp>
      <p:sp>
        <p:nvSpPr>
          <p:cNvPr name="TextBox 6" id="6"/>
          <p:cNvSpPr txBox="true"/>
          <p:nvPr/>
        </p:nvSpPr>
        <p:spPr>
          <a:xfrm>
            <a:off x="1206500" y="1841500"/>
            <a:ext cx="1905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>
              <a:spcAft>
                <a:spcPct val="15000"/>
              </a:spcAft>
            </a:pPr>
            <a:r>
              <a:rPr lang="en-US" sz="4000"/>
              <a:t>📊</a:t>
            </a:r>
          </a:p>
          <a:p>
            <a:pPr algn="ctr">
              <a:spcAft>
                <a:spcPct val="20000"/>
              </a:spcAft>
            </a:pPr>
            <a:r>
              <a:rPr lang="en-US" sz="1600" b="true">
                <a:solidFill>
                  <a:srgbClr val="008080"/>
                </a:solidFill>
              </a:rPr>
              <a:t>短期目标（1-2年）</a:t>
            </a:r>
          </a:p>
          <a:p>
            <a:pPr>
              <a:spcAft>
                <a:spcPct val="8000"/>
              </a:spcAft>
            </a:pPr>
            <a:r>
              <a:rPr lang="en-US" sz="1200"/>
              <a:t>• 深耕核心业务，提升服务质量</a:t>
            </a:r>
          </a:p>
          <a:p>
            <a:pPr>
              <a:spcAft>
                <a:spcPct val="8000"/>
              </a:spcAft>
            </a:pPr>
            <a:r>
              <a:rPr lang="en-US" sz="1200"/>
              <a:t>• 拓展区域市场，增加市场份额</a:t>
            </a:r>
          </a:p>
        </p:txBody>
      </p:sp>
      <p:sp>
        <p:nvSpPr>
          <p:cNvPr name="AutoShape 7" id="7"/>
          <p:cNvSpPr/>
          <p:nvPr/>
        </p:nvSpPr>
        <p:spPr>
          <a:xfrm>
            <a:off x="3556000" y="1651000"/>
            <a:ext cx="2286000" cy="4445000"/>
          </a:xfrm>
          <a:prstGeom prst="rect">
            <a:avLst/>
          </a:prstGeom>
          <a:solidFill>
            <a:srgbClr val="008080">
              <a:alpha val="7843"/>
            </a:srgbClr>
          </a:solidFill>
        </p:spPr>
      </p:sp>
      <p:sp>
        <p:nvSpPr>
          <p:cNvPr name="TextBox 8" id="8"/>
          <p:cNvSpPr txBox="true"/>
          <p:nvPr/>
        </p:nvSpPr>
        <p:spPr>
          <a:xfrm>
            <a:off x="3746500" y="1841500"/>
            <a:ext cx="1905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>
              <a:spcAft>
                <a:spcPct val="15000"/>
              </a:spcAft>
            </a:pPr>
            <a:r>
              <a:rPr lang="en-US" sz="4000"/>
              <a:t>📈</a:t>
            </a:r>
          </a:p>
          <a:p>
            <a:pPr algn="ctr">
              <a:spcAft>
                <a:spcPct val="20000"/>
              </a:spcAft>
            </a:pPr>
            <a:r>
              <a:rPr lang="en-US" sz="1600" b="true">
                <a:solidFill>
                  <a:srgbClr val="008080"/>
                </a:solidFill>
              </a:rPr>
              <a:t>中期目标（3-5年）</a:t>
            </a:r>
          </a:p>
          <a:p>
            <a:pPr>
              <a:spcAft>
                <a:spcPct val="8000"/>
              </a:spcAft>
            </a:pPr>
            <a:r>
              <a:rPr lang="en-US" sz="1200"/>
              <a:t>• 布局新兴技术领域</a:t>
            </a:r>
          </a:p>
          <a:p>
            <a:pPr>
              <a:spcAft>
                <a:spcPct val="8000"/>
              </a:spcAft>
            </a:pPr>
            <a:r>
              <a:rPr lang="en-US" sz="1200"/>
              <a:t>• 打造行业标杆案例</a:t>
            </a:r>
          </a:p>
          <a:p>
            <a:pPr>
              <a:spcAft>
                <a:spcPct val="8000"/>
              </a:spcAft>
            </a:pPr>
            <a:r>
              <a:rPr lang="en-US" sz="1200"/>
              <a:t>• 建立技术标准</a:t>
            </a:r>
          </a:p>
        </p:txBody>
      </p:sp>
      <p:sp>
        <p:nvSpPr>
          <p:cNvPr name="AutoShape 9" id="9"/>
          <p:cNvSpPr/>
          <p:nvPr/>
        </p:nvSpPr>
        <p:spPr>
          <a:xfrm>
            <a:off x="6096000" y="1651000"/>
            <a:ext cx="2286000" cy="4445000"/>
          </a:xfrm>
          <a:prstGeom prst="rect">
            <a:avLst/>
          </a:prstGeom>
          <a:solidFill>
            <a:srgbClr val="008080">
              <a:alpha val="7843"/>
            </a:srgbClr>
          </a:solidFill>
        </p:spPr>
      </p:sp>
      <p:sp>
        <p:nvSpPr>
          <p:cNvPr name="TextBox 10" id="10"/>
          <p:cNvSpPr txBox="true"/>
          <p:nvPr/>
        </p:nvSpPr>
        <p:spPr>
          <a:xfrm>
            <a:off x="6286500" y="1841500"/>
            <a:ext cx="1905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>
              <a:spcAft>
                <a:spcPct val="15000"/>
              </a:spcAft>
            </a:pPr>
            <a:r>
              <a:rPr lang="en-US" sz="4000"/>
              <a:t>🎯</a:t>
            </a:r>
          </a:p>
          <a:p>
            <a:pPr algn="ctr">
              <a:spcAft>
                <a:spcPct val="20000"/>
              </a:spcAft>
            </a:pPr>
            <a:r>
              <a:rPr lang="en-US" sz="1600" b="true">
                <a:solidFill>
                  <a:srgbClr val="008080"/>
                </a:solidFill>
              </a:rPr>
              <a:t>长期目标（5年+）</a:t>
            </a:r>
          </a:p>
          <a:p>
            <a:pPr>
              <a:spcAft>
                <a:spcPct val="8000"/>
              </a:spcAft>
            </a:pPr>
            <a:r>
              <a:rPr lang="en-US" sz="1200"/>
              <a:t>• 成为行业领导者</a:t>
            </a:r>
          </a:p>
          <a:p>
            <a:pPr>
              <a:spcAft>
                <a:spcPct val="8000"/>
              </a:spcAft>
            </a:pPr>
            <a:r>
              <a:rPr lang="en-US" sz="1200"/>
              <a:t>• 构建生态合作伙伴体系</a:t>
            </a:r>
          </a:p>
          <a:p>
            <a:pPr>
              <a:spcAft>
                <a:spcPct val="8000"/>
              </a:spcAft>
            </a:pPr>
            <a:r>
              <a:rPr lang="en-US" sz="1200"/>
              <a:t>• 全球化布局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AutoShape 3" id="3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4" id="4"/>
          <p:cNvSpPr txBox="true"/>
          <p:nvPr/>
        </p:nvSpPr>
        <p:spPr>
          <a:xfrm>
            <a:off x="635000" y="3810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3600" b="true">
                <a:solidFill>
                  <a:srgbClr val="008080"/>
                </a:solidFill>
              </a:rPr>
              <a:t>流程演示</a:t>
            </a:r>
          </a:p>
        </p:txBody>
      </p:sp>
      <p:sp>
        <p:nvSpPr>
          <p:cNvPr name="AutoShape 5" id="5"/>
          <p:cNvSpPr/>
          <p:nvPr/>
        </p:nvSpPr>
        <p:spPr>
          <a:xfrm>
            <a:off x="635000" y="2286000"/>
            <a:ext cx="762000" cy="762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6" id="6"/>
          <p:cNvSpPr txBox="true"/>
          <p:nvPr/>
        </p:nvSpPr>
        <p:spPr>
          <a:xfrm>
            <a:off x="635000" y="2413000"/>
            <a:ext cx="76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800" b="true">
                <a:solidFill>
                  <a:srgbClr val="FFFFFF"/>
                </a:solidFill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508000" y="3238500"/>
            <a:ext cx="1016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400" b="true"/>
              <a:t>需求分析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" y="3619500"/>
            <a:ext cx="1143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000"/>
              <a:t>深入了解客户需求，制定解决方案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1460500" y="2540000"/>
            <a:ext cx="381000" cy="25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400">
                <a:solidFill>
                  <a:srgbClr val="008080"/>
                </a:solidFill>
              </a:rPr>
              <a:t>→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286000" y="2286000"/>
            <a:ext cx="762000" cy="762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11" id="11"/>
          <p:cNvSpPr txBox="true"/>
          <p:nvPr/>
        </p:nvSpPr>
        <p:spPr>
          <a:xfrm>
            <a:off x="2286000" y="2413000"/>
            <a:ext cx="76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800" b="true">
                <a:solidFill>
                  <a:srgbClr val="FFFFFF"/>
                </a:solidFill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159000" y="3238500"/>
            <a:ext cx="1016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400" b="true"/>
              <a:t>方案设计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095500" y="3619500"/>
            <a:ext cx="1143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000"/>
              <a:t>基于AI技术，设计最佳实施路径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3111500" y="2540000"/>
            <a:ext cx="381000" cy="25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400">
                <a:solidFill>
                  <a:srgbClr val="008080"/>
                </a:solidFill>
              </a:rPr>
              <a:t>→</a:t>
            </a:r>
          </a:p>
        </p:txBody>
      </p:sp>
      <p:sp>
        <p:nvSpPr>
          <p:cNvPr name="AutoShape 15" id="15"/>
          <p:cNvSpPr/>
          <p:nvPr/>
        </p:nvSpPr>
        <p:spPr>
          <a:xfrm>
            <a:off x="3937000" y="2286000"/>
            <a:ext cx="762000" cy="762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16" id="16"/>
          <p:cNvSpPr txBox="true"/>
          <p:nvPr/>
        </p:nvSpPr>
        <p:spPr>
          <a:xfrm>
            <a:off x="3937000" y="2413000"/>
            <a:ext cx="76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800" b="true">
                <a:solidFill>
                  <a:srgbClr val="FFFFFF"/>
                </a:solidFill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3810000" y="3238500"/>
            <a:ext cx="1016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400" b="true"/>
              <a:t>开发实施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3746500" y="3619500"/>
            <a:ext cx="1143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000"/>
              <a:t>快速迭代开发，保证交付质量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762500" y="2540000"/>
            <a:ext cx="381000" cy="25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400">
                <a:solidFill>
                  <a:srgbClr val="008080"/>
                </a:solidFill>
              </a:rPr>
              <a:t>→</a:t>
            </a:r>
          </a:p>
        </p:txBody>
      </p:sp>
      <p:sp>
        <p:nvSpPr>
          <p:cNvPr name="AutoShape 20" id="20"/>
          <p:cNvSpPr/>
          <p:nvPr/>
        </p:nvSpPr>
        <p:spPr>
          <a:xfrm>
            <a:off x="5588000" y="2286000"/>
            <a:ext cx="762000" cy="762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21" id="21"/>
          <p:cNvSpPr txBox="true"/>
          <p:nvPr/>
        </p:nvSpPr>
        <p:spPr>
          <a:xfrm>
            <a:off x="5588000" y="2413000"/>
            <a:ext cx="76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800" b="true">
                <a:solidFill>
                  <a:srgbClr val="FFFFFF"/>
                </a:solidFill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5461000" y="3238500"/>
            <a:ext cx="1016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400" b="true"/>
              <a:t>测试验证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5397500" y="3619500"/>
            <a:ext cx="1143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000"/>
              <a:t>严格测试流程，确保系统稳定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6413500" y="2540000"/>
            <a:ext cx="381000" cy="25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400">
                <a:solidFill>
                  <a:srgbClr val="008080"/>
                </a:solidFill>
              </a:rPr>
              <a:t>→</a:t>
            </a:r>
          </a:p>
        </p:txBody>
      </p:sp>
      <p:sp>
        <p:nvSpPr>
          <p:cNvPr name="AutoShape 25" id="25"/>
          <p:cNvSpPr/>
          <p:nvPr/>
        </p:nvSpPr>
        <p:spPr>
          <a:xfrm>
            <a:off x="7239000" y="2286000"/>
            <a:ext cx="762000" cy="762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26" id="26"/>
          <p:cNvSpPr txBox="true"/>
          <p:nvPr/>
        </p:nvSpPr>
        <p:spPr>
          <a:xfrm>
            <a:off x="7239000" y="2413000"/>
            <a:ext cx="76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800" b="true">
                <a:solidFill>
                  <a:srgbClr val="FFFFFF"/>
                </a:solidFill>
              </a:rPr>
              <a:t>5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7112000" y="3238500"/>
            <a:ext cx="1016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400" b="true"/>
              <a:t>上线运营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7048500" y="3619500"/>
            <a:ext cx="1143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1000"/>
              <a:t>平滑上线，持续优化改进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AutoShape 3" id="3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4" id="4"/>
          <p:cNvSpPr txBox="true"/>
          <p:nvPr/>
        </p:nvSpPr>
        <p:spPr>
          <a:xfrm>
            <a:off x="635000" y="3810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3600" b="true">
                <a:solidFill>
                  <a:srgbClr val="008080"/>
                </a:solidFill>
              </a:rPr>
              <a:t>未来展望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1651000"/>
            <a:ext cx="7620000" cy="444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>
              <a:spcAft>
                <a:spcPct val="30000"/>
              </a:spcAft>
            </a:pPr>
            <a:r>
              <a:rPr lang="en-US" sz="3600" b="true">
                <a:solidFill>
                  <a:srgbClr val="008080"/>
                </a:solidFill>
              </a:rPr>
              <a:t>🚀 展望未来</a:t>
            </a:r>
          </a:p>
          <a:p>
            <a:pPr algn="ctr">
              <a:spcAft>
                <a:spcPct val="40000"/>
              </a:spcAft>
            </a:pPr>
            <a:r>
              <a:rPr lang="en-US" sz="2000"/>
              <a:t>在数字化转型的浪潮中，我们将继续秉持创新精神，
以技术驱动发展，以服务创造价值，
与客户携手共创美好未来！</a:t>
            </a:r>
          </a:p>
          <a:p>
            <a:pPr algn="ctr"/>
            <a:r>
              <a:rPr lang="en-US" sz="2800" b="true"/>
              <a:t>✨ 期待与您合作 ✨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</p:spPr>
      </p:sp>
      <p:sp>
        <p:nvSpPr>
          <p:cNvPr name="TextBox 3" id="3"/>
          <p:cNvSpPr txBox="true"/>
          <p:nvPr/>
        </p:nvSpPr>
        <p:spPr>
          <a:xfrm>
            <a:off x="635000" y="2032000"/>
            <a:ext cx="7874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5600" b="true">
                <a:solidFill>
                  <a:srgbClr val="FFFFFF"/>
                </a:solidFill>
              </a:rPr>
              <a:t>谢谢观看！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35000" y="4064000"/>
            <a:ext cx="7874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ctr"/>
            <a:r>
              <a:rPr lang="en-US" sz="2000">
                <a:solidFill>
                  <a:srgbClr val="F0F0F0"/>
                </a:solidFill>
              </a:rPr>
              <a:t>联系方式：contact@example.com
电话：400-888-8888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